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5" r:id="rId12"/>
  </p:sldIdLst>
  <p:sldSz cx="18288000" cy="10287000"/>
  <p:notesSz cx="6858000" cy="9144000"/>
  <p:embeddedFontLst>
    <p:embeddedFont>
      <p:font typeface="DM Sans" pitchFamily="2" charset="0"/>
      <p:regular r:id="rId14"/>
      <p:bold r:id="rId15"/>
      <p:italic r:id="rId16"/>
    </p:embeddedFont>
    <p:embeddedFont>
      <p:font typeface="DM Sans Bold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22" autoAdjust="0"/>
  </p:normalViewPr>
  <p:slideViewPr>
    <p:cSldViewPr>
      <p:cViewPr>
        <p:scale>
          <a:sx n="33" d="100"/>
          <a:sy n="33" d="100"/>
        </p:scale>
        <p:origin x="1968" y="6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A299CA55-FB72-413E-A9D5-05A0E102EAF7}" type="datetimeFigureOut">
              <a:rPr lang="ar-EG" smtClean="0"/>
              <a:t>10/06/1447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0A526CB7-9A6E-419D-B518-6730DC747C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1018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26CB7-9A6E-419D-B518-6730DC747C99}" type="slidenum">
              <a:rPr lang="ar-EG" smtClean="0"/>
              <a:t>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44977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2.wdp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tudent-dashboard-td5yjupcys9ojtautkzrku.streamlit.app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25791" y="285750"/>
            <a:ext cx="7126185" cy="9715500"/>
            <a:chOff x="0" y="0"/>
            <a:chExt cx="1072489" cy="14621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2489" cy="1462180"/>
            </a:xfrm>
            <a:custGeom>
              <a:avLst/>
              <a:gdLst/>
              <a:ahLst/>
              <a:cxnLst/>
              <a:rect l="l" t="t" r="r" b="b"/>
              <a:pathLst>
                <a:path w="1072489" h="1462180">
                  <a:moveTo>
                    <a:pt x="32592" y="0"/>
                  </a:moveTo>
                  <a:lnTo>
                    <a:pt x="1039897" y="0"/>
                  </a:lnTo>
                  <a:cubicBezTo>
                    <a:pt x="1057897" y="0"/>
                    <a:pt x="1072489" y="14592"/>
                    <a:pt x="1072489" y="32592"/>
                  </a:cubicBezTo>
                  <a:lnTo>
                    <a:pt x="1072489" y="1429588"/>
                  </a:lnTo>
                  <a:cubicBezTo>
                    <a:pt x="1072489" y="1447588"/>
                    <a:pt x="1057897" y="1462180"/>
                    <a:pt x="1039897" y="1462180"/>
                  </a:cubicBezTo>
                  <a:lnTo>
                    <a:pt x="32592" y="1462180"/>
                  </a:lnTo>
                  <a:cubicBezTo>
                    <a:pt x="23948" y="1462180"/>
                    <a:pt x="15658" y="1458746"/>
                    <a:pt x="9546" y="1452634"/>
                  </a:cubicBezTo>
                  <a:cubicBezTo>
                    <a:pt x="3434" y="1446522"/>
                    <a:pt x="0" y="1438232"/>
                    <a:pt x="0" y="1429588"/>
                  </a:cubicBezTo>
                  <a:lnTo>
                    <a:pt x="0" y="32592"/>
                  </a:lnTo>
                  <a:cubicBezTo>
                    <a:pt x="0" y="14592"/>
                    <a:pt x="14592" y="0"/>
                    <a:pt x="32592" y="0"/>
                  </a:cubicBezTo>
                  <a:close/>
                </a:path>
              </a:pathLst>
            </a:custGeom>
            <a:blipFill>
              <a:blip r:embed="rId2"/>
              <a:stretch>
                <a:fillRect t="-152" b="-152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66750" y="3946166"/>
            <a:ext cx="10067925" cy="386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14"/>
              </a:lnSpc>
            </a:pPr>
            <a:r>
              <a:rPr lang="en-US" sz="10014" spc="-3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Intelligent Student Performance Dashboard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05025" y="9394750"/>
            <a:ext cx="688657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84"/>
              </a:lnSpc>
            </a:pPr>
            <a:r>
              <a:rPr lang="en-US" sz="265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November 30,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290A0B-182B-3784-2BE0-B522FBE013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7345" y="924556"/>
            <a:ext cx="3626818" cy="9423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0AA009-E601-346B-795F-E0068C6C5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32" y="-21092"/>
            <a:ext cx="4977606" cy="28023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36FBE1-2594-E85E-4A27-10D9C40FB0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83" y="409620"/>
            <a:ext cx="2082417" cy="191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AB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3479557"/>
            <a:ext cx="16954500" cy="337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99"/>
              </a:lnSpc>
            </a:pPr>
            <a:r>
              <a:rPr lang="en-US" sz="12999" spc="-38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Transforming Education Today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4790B-1C9D-6781-91A8-A9BB0DE45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0" y="-21092"/>
            <a:ext cx="4977606" cy="2802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2C055D-1459-8722-F587-F0ACD94EA2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83" y="485820"/>
            <a:ext cx="2082417" cy="1914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81800" y="1986526"/>
            <a:ext cx="8746019" cy="3640694"/>
            <a:chOff x="0" y="-38100"/>
            <a:chExt cx="2534132" cy="1203550"/>
          </a:xfrm>
          <a:effectLst>
            <a:glow rad="228600">
              <a:schemeClr val="accent3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90906" y="2661087"/>
            <a:ext cx="6038494" cy="2114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</a:pPr>
            <a:r>
              <a:rPr lang="en-US" sz="8100" spc="-243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Team Composition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122398" y="2397952"/>
            <a:ext cx="5526802" cy="3155884"/>
            <a:chOff x="-1118911" y="-337637"/>
            <a:chExt cx="6467965" cy="3626948"/>
          </a:xfrm>
        </p:grpSpPr>
        <p:sp>
          <p:nvSpPr>
            <p:cNvPr id="14" name="TextBox 14"/>
            <p:cNvSpPr txBox="1"/>
            <p:nvPr/>
          </p:nvSpPr>
          <p:spPr>
            <a:xfrm>
              <a:off x="-1118911" y="-337637"/>
              <a:ext cx="6467965" cy="69955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800" b="1" spc="-135" dirty="0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Abdullah Ahmed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-1020143" y="1167010"/>
              <a:ext cx="6185471" cy="21223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 dirty="0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Responsible for Team Leading, planning, coordinating, Deployment and developing and optimizing AI algorithms for predictive analytics</a:t>
              </a:r>
              <a:r>
                <a:rPr lang="en-US" sz="2000" dirty="0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 and Dashboard designing,  implementation and Documentation of every step.</a:t>
              </a:r>
              <a:endParaRPr lang="en-US" sz="2000" u="none" strike="noStrike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7" name="Group 2">
            <a:extLst>
              <a:ext uri="{FF2B5EF4-FFF2-40B4-BE49-F238E27FC236}">
                <a16:creationId xmlns:a16="http://schemas.microsoft.com/office/drawing/2014/main" id="{15C4E3C5-F971-229C-FC2C-ACAEA8B0C526}"/>
              </a:ext>
            </a:extLst>
          </p:cNvPr>
          <p:cNvGrpSpPr/>
          <p:nvPr/>
        </p:nvGrpSpPr>
        <p:grpSpPr>
          <a:xfrm>
            <a:off x="523939" y="5995594"/>
            <a:ext cx="8010461" cy="3237434"/>
            <a:chOff x="0" y="-38100"/>
            <a:chExt cx="2534132" cy="1203550"/>
          </a:xfrm>
          <a:effectLst>
            <a:glow rad="228600">
              <a:schemeClr val="accent3">
                <a:satMod val="175000"/>
                <a:alpha val="40000"/>
              </a:schemeClr>
            </a:glow>
          </a:effectLst>
        </p:grpSpPr>
        <p:sp>
          <p:nvSpPr>
            <p:cNvPr id="28" name="Freeform 3">
              <a:extLst>
                <a:ext uri="{FF2B5EF4-FFF2-40B4-BE49-F238E27FC236}">
                  <a16:creationId xmlns:a16="http://schemas.microsoft.com/office/drawing/2014/main" id="{1A875C0E-75C1-77AF-5861-F3838968A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outerShdw blurRad="76200" dist="12700" dir="8100000" sy="-23000" kx="800400" algn="br" rotWithShape="0">
                <a:prstClr val="black">
                  <a:alpha val="20000"/>
                </a:prstClr>
              </a:outerShdw>
            </a:effectLst>
          </p:spPr>
          <p:txBody>
            <a:bodyPr/>
            <a:lstStyle/>
            <a:p>
              <a:endParaRPr lang="ar-EG" dirty="0"/>
            </a:p>
          </p:txBody>
        </p:sp>
        <p:sp>
          <p:nvSpPr>
            <p:cNvPr id="29" name="TextBox 4">
              <a:extLst>
                <a:ext uri="{FF2B5EF4-FFF2-40B4-BE49-F238E27FC236}">
                  <a16:creationId xmlns:a16="http://schemas.microsoft.com/office/drawing/2014/main" id="{2BCAD453-FEA3-0D74-6CC2-97FCD7717E4D}"/>
                </a:ext>
              </a:extLst>
            </p:cNvPr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13">
            <a:extLst>
              <a:ext uri="{FF2B5EF4-FFF2-40B4-BE49-F238E27FC236}">
                <a16:creationId xmlns:a16="http://schemas.microsoft.com/office/drawing/2014/main" id="{6125927B-F00C-5205-078E-799B031244FF}"/>
              </a:ext>
            </a:extLst>
          </p:cNvPr>
          <p:cNvGrpSpPr/>
          <p:nvPr/>
        </p:nvGrpSpPr>
        <p:grpSpPr>
          <a:xfrm>
            <a:off x="1042668" y="6457801"/>
            <a:ext cx="3483840" cy="2336624"/>
            <a:chOff x="-63264" y="-245901"/>
            <a:chExt cx="4645120" cy="3115498"/>
          </a:xfrm>
        </p:grpSpPr>
        <p:sp>
          <p:nvSpPr>
            <p:cNvPr id="33" name="TextBox 14">
              <a:extLst>
                <a:ext uri="{FF2B5EF4-FFF2-40B4-BE49-F238E27FC236}">
                  <a16:creationId xmlns:a16="http://schemas.microsoft.com/office/drawing/2014/main" id="{4E78E1D7-F13C-F4DE-A129-54A7AD18F1FE}"/>
                </a:ext>
              </a:extLst>
            </p:cNvPr>
            <p:cNvSpPr txBox="1"/>
            <p:nvPr/>
          </p:nvSpPr>
          <p:spPr>
            <a:xfrm>
              <a:off x="-63264" y="-245901"/>
              <a:ext cx="4581856" cy="796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b="1" spc="-135" dirty="0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Omar Akram</a:t>
              </a:r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AAF14A7D-8FA9-5EEE-D3DC-D0959456CF8A}"/>
                </a:ext>
              </a:extLst>
            </p:cNvPr>
            <p:cNvSpPr txBox="1"/>
            <p:nvPr/>
          </p:nvSpPr>
          <p:spPr>
            <a:xfrm>
              <a:off x="0" y="1228123"/>
              <a:ext cx="4581856" cy="164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 dirty="0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Responsible for the consistence of the data and make sure that is clean and right.</a:t>
              </a:r>
            </a:p>
          </p:txBody>
        </p:sp>
      </p:grpSp>
      <p:grpSp>
        <p:nvGrpSpPr>
          <p:cNvPr id="35" name="Group 2">
            <a:extLst>
              <a:ext uri="{FF2B5EF4-FFF2-40B4-BE49-F238E27FC236}">
                <a16:creationId xmlns:a16="http://schemas.microsoft.com/office/drawing/2014/main" id="{8B0B1C60-3E69-D8C2-03A9-C8FD25343906}"/>
              </a:ext>
            </a:extLst>
          </p:cNvPr>
          <p:cNvGrpSpPr/>
          <p:nvPr/>
        </p:nvGrpSpPr>
        <p:grpSpPr>
          <a:xfrm>
            <a:off x="9525000" y="5995593"/>
            <a:ext cx="7907819" cy="3138093"/>
            <a:chOff x="0" y="-38100"/>
            <a:chExt cx="2534132" cy="1203550"/>
          </a:xfrm>
          <a:effectLst>
            <a:glow rad="228600">
              <a:schemeClr val="accent3">
                <a:satMod val="175000"/>
                <a:alpha val="40000"/>
              </a:schemeClr>
            </a:glow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grpSpPr>
        <p:sp>
          <p:nvSpPr>
            <p:cNvPr id="36" name="Freeform 3">
              <a:extLst>
                <a:ext uri="{FF2B5EF4-FFF2-40B4-BE49-F238E27FC236}">
                  <a16:creationId xmlns:a16="http://schemas.microsoft.com/office/drawing/2014/main" id="{AA716A67-D15C-374F-C833-19C1669A11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4132" cy="1165450"/>
            </a:xfrm>
            <a:custGeom>
              <a:avLst/>
              <a:gdLst/>
              <a:ahLst/>
              <a:cxnLst/>
              <a:rect l="l" t="t" r="r" b="b"/>
              <a:pathLst>
                <a:path w="2534132" h="1165450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7" name="TextBox 4">
              <a:extLst>
                <a:ext uri="{FF2B5EF4-FFF2-40B4-BE49-F238E27FC236}">
                  <a16:creationId xmlns:a16="http://schemas.microsoft.com/office/drawing/2014/main" id="{A727D755-3D25-D775-34E7-A43C7418F7A1}"/>
                </a:ext>
              </a:extLst>
            </p:cNvPr>
            <p:cNvSpPr txBox="1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13">
            <a:extLst>
              <a:ext uri="{FF2B5EF4-FFF2-40B4-BE49-F238E27FC236}">
                <a16:creationId xmlns:a16="http://schemas.microsoft.com/office/drawing/2014/main" id="{7A159874-BA96-6BE6-5D76-B9E33C0710C9}"/>
              </a:ext>
            </a:extLst>
          </p:cNvPr>
          <p:cNvGrpSpPr/>
          <p:nvPr/>
        </p:nvGrpSpPr>
        <p:grpSpPr>
          <a:xfrm>
            <a:off x="9882369" y="6495557"/>
            <a:ext cx="4900431" cy="2372719"/>
            <a:chOff x="-1" y="76200"/>
            <a:chExt cx="5336759" cy="3163624"/>
          </a:xfrm>
        </p:grpSpPr>
        <p:sp>
          <p:nvSpPr>
            <p:cNvPr id="41" name="TextBox 14">
              <a:extLst>
                <a:ext uri="{FF2B5EF4-FFF2-40B4-BE49-F238E27FC236}">
                  <a16:creationId xmlns:a16="http://schemas.microsoft.com/office/drawing/2014/main" id="{9D8E87E6-AA60-5790-4559-7D3939474FE1}"/>
                </a:ext>
              </a:extLst>
            </p:cNvPr>
            <p:cNvSpPr txBox="1"/>
            <p:nvPr/>
          </p:nvSpPr>
          <p:spPr>
            <a:xfrm>
              <a:off x="-1" y="76200"/>
              <a:ext cx="5336759" cy="7804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4500"/>
                </a:lnSpc>
              </a:pPr>
              <a:r>
                <a:rPr lang="en-US" sz="4500" b="1" spc="-135" dirty="0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Youssef Zaghlol</a:t>
              </a:r>
            </a:p>
          </p:txBody>
        </p:sp>
        <p:sp>
          <p:nvSpPr>
            <p:cNvPr id="42" name="TextBox 15">
              <a:extLst>
                <a:ext uri="{FF2B5EF4-FFF2-40B4-BE49-F238E27FC236}">
                  <a16:creationId xmlns:a16="http://schemas.microsoft.com/office/drawing/2014/main" id="{286854FE-3D00-C8C0-F565-3CE489E05A52}"/>
                </a:ext>
              </a:extLst>
            </p:cNvPr>
            <p:cNvSpPr txBox="1"/>
            <p:nvPr/>
          </p:nvSpPr>
          <p:spPr>
            <a:xfrm>
              <a:off x="213530" y="1598350"/>
              <a:ext cx="4581856" cy="1641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 dirty="0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Responsible for Building data warehouse, And visuals Using Power BI and find correlations.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993B0EB7-701B-944B-2060-CE663CE2B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64" y="412941"/>
            <a:ext cx="1913036" cy="1758759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1C6B224-B045-3CC2-3667-4859C65B56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0" y="576469"/>
            <a:ext cx="3626818" cy="94234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7A0D6B9-40F5-D751-E045-A4C4E0B4F092}"/>
              </a:ext>
            </a:extLst>
          </p:cNvPr>
          <p:cNvSpPr txBox="1"/>
          <p:nvPr/>
        </p:nvSpPr>
        <p:spPr>
          <a:xfrm>
            <a:off x="7102316" y="2944081"/>
            <a:ext cx="5130831" cy="678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1400" i="1" strike="noStrike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rPr>
              <a:t>Team Leader &amp; AI Engineering &amp; Documentation &amp; Dashboard &amp; Deployment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B6C0006C-A56A-1A0A-CB38-13B0BEB3D3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6" b="31505"/>
          <a:stretch>
            <a:fillRect/>
          </a:stretch>
        </p:blipFill>
        <p:spPr>
          <a:xfrm>
            <a:off x="12573745" y="2352311"/>
            <a:ext cx="2633830" cy="30971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5010784B-FD69-0FCE-5595-29450C57EC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919" y="6330018"/>
            <a:ext cx="2671069" cy="26710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8AB0AE5-F080-7F9E-93E9-F289C5B20424}"/>
              </a:ext>
            </a:extLst>
          </p:cNvPr>
          <p:cNvSpPr txBox="1"/>
          <p:nvPr/>
        </p:nvSpPr>
        <p:spPr>
          <a:xfrm>
            <a:off x="1059877" y="7089365"/>
            <a:ext cx="3743719" cy="38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1800" i="1" strike="noStrike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rPr>
              <a:t>Data Collecting and Cleaning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FC07A2-B3FF-7630-7B18-797C5E1EACED}"/>
              </a:ext>
            </a:extLst>
          </p:cNvPr>
          <p:cNvSpPr txBox="1"/>
          <p:nvPr/>
        </p:nvSpPr>
        <p:spPr>
          <a:xfrm>
            <a:off x="10007540" y="7151199"/>
            <a:ext cx="9293900" cy="384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1800" i="1" strike="noStrike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rPr>
              <a:t>Data Visualization, storing and managing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F6DD1D-CFC3-5D90-F844-0D748337F9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6309333"/>
            <a:ext cx="2059076" cy="26556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6E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3408" y="716978"/>
            <a:ext cx="15970139" cy="9806347"/>
            <a:chOff x="0" y="-19050"/>
            <a:chExt cx="4206127" cy="2582742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4206127" cy="2563692"/>
            </a:xfrm>
            <a:custGeom>
              <a:avLst/>
              <a:gdLst/>
              <a:ahLst/>
              <a:cxnLst/>
              <a:rect l="l" t="t" r="r" b="b"/>
              <a:pathLst>
                <a:path w="4206127" h="2563692">
                  <a:moveTo>
                    <a:pt x="14543" y="0"/>
                  </a:moveTo>
                  <a:lnTo>
                    <a:pt x="4191584" y="0"/>
                  </a:lnTo>
                  <a:cubicBezTo>
                    <a:pt x="4199616" y="0"/>
                    <a:pt x="4206127" y="6511"/>
                    <a:pt x="4206127" y="14543"/>
                  </a:cubicBezTo>
                  <a:lnTo>
                    <a:pt x="4206127" y="2549148"/>
                  </a:lnTo>
                  <a:cubicBezTo>
                    <a:pt x="4206127" y="2553005"/>
                    <a:pt x="4204595" y="2556705"/>
                    <a:pt x="4201868" y="2559432"/>
                  </a:cubicBezTo>
                  <a:cubicBezTo>
                    <a:pt x="4199140" y="2562159"/>
                    <a:pt x="4195441" y="2563692"/>
                    <a:pt x="4191584" y="2563692"/>
                  </a:cubicBezTo>
                  <a:lnTo>
                    <a:pt x="14543" y="2563692"/>
                  </a:lnTo>
                  <a:cubicBezTo>
                    <a:pt x="10686" y="2563692"/>
                    <a:pt x="6987" y="2562159"/>
                    <a:pt x="4260" y="2559432"/>
                  </a:cubicBezTo>
                  <a:cubicBezTo>
                    <a:pt x="1532" y="2556705"/>
                    <a:pt x="0" y="2553005"/>
                    <a:pt x="0" y="2549148"/>
                  </a:cubicBezTo>
                  <a:lnTo>
                    <a:pt x="0" y="14543"/>
                  </a:lnTo>
                  <a:cubicBezTo>
                    <a:pt x="0" y="10686"/>
                    <a:pt x="1532" y="6987"/>
                    <a:pt x="4260" y="4260"/>
                  </a:cubicBezTo>
                  <a:cubicBezTo>
                    <a:pt x="6987" y="1532"/>
                    <a:pt x="10686" y="0"/>
                    <a:pt x="1454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4206127" cy="2582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445819" y="2780498"/>
            <a:ext cx="627908" cy="629052"/>
          </a:xfrm>
          <a:custGeom>
            <a:avLst/>
            <a:gdLst/>
            <a:ahLst/>
            <a:cxnLst/>
            <a:rect l="l" t="t" r="r" b="b"/>
            <a:pathLst>
              <a:path w="627908" h="629052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TextBox 13"/>
          <p:cNvSpPr txBox="1"/>
          <p:nvPr/>
        </p:nvSpPr>
        <p:spPr>
          <a:xfrm>
            <a:off x="4229105" y="1490783"/>
            <a:ext cx="10995650" cy="121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9000"/>
              </a:lnSpc>
            </a:pPr>
            <a:r>
              <a:rPr lang="en-US" sz="9600" dirty="0">
                <a:solidFill>
                  <a:schemeClr val="accent1">
                    <a:lumMod val="75000"/>
                  </a:schemeClr>
                </a:solidFill>
                <a:latin typeface="DM Sans" pitchFamily="2" charset="0"/>
              </a:rPr>
              <a:t>Project Idea </a:t>
            </a:r>
            <a:endParaRPr lang="en-US" sz="9000" spc="-270" dirty="0">
              <a:solidFill>
                <a:srgbClr val="336EA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1445819" y="3356544"/>
            <a:ext cx="6207182" cy="2670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5400"/>
              </a:lnSpc>
            </a:pPr>
            <a:r>
              <a:rPr lang="en-US" sz="2000" spc="-150" dirty="0">
                <a:solidFill>
                  <a:schemeClr val="tx2">
                    <a:lumMod val="75000"/>
                  </a:schemeClr>
                </a:solidFill>
                <a:latin typeface="DM Sans" pitchFamily="2" charset="0"/>
              </a:rPr>
              <a:t>Educational institutions currently suffer from "delayed feedback"; they only know a student is struggling after they fail exams. There is a lack of real-time tools to analyze behavioral data and predict outcomes early.</a:t>
            </a:r>
            <a:endParaRPr lang="en-US" sz="2000" spc="-150" dirty="0">
              <a:solidFill>
                <a:schemeClr val="tx2">
                  <a:lumMod val="75000"/>
                </a:schemeClr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0FEF7EB-3EFB-C10D-D0D5-38C610FE84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83" y="485820"/>
            <a:ext cx="2082417" cy="191448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ABFB866-ED45-F494-B6B7-9EA068A53845}"/>
              </a:ext>
            </a:extLst>
          </p:cNvPr>
          <p:cNvSpPr txBox="1"/>
          <p:nvPr/>
        </p:nvSpPr>
        <p:spPr>
          <a:xfrm>
            <a:off x="4164834" y="5593024"/>
            <a:ext cx="4821703" cy="3454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5400"/>
              </a:lnSpc>
            </a:pPr>
            <a:r>
              <a:rPr lang="en-US" sz="2000" spc="-150" dirty="0">
                <a:solidFill>
                  <a:schemeClr val="tx2">
                    <a:lumMod val="75000"/>
                  </a:schemeClr>
                </a:solidFill>
                <a:latin typeface="DM Sans" pitchFamily="2" charset="0"/>
              </a:rPr>
              <a:t>Educational institutions currently suffer from "delayed feedback"; they only know a student is struggling after they fail exams. There is a lack of real-time tools to analyze behavioral data and predict outcomes early.</a:t>
            </a:r>
            <a:endParaRPr lang="en-US" sz="2000" spc="-150" dirty="0">
              <a:solidFill>
                <a:schemeClr val="tx2">
                  <a:lumMod val="75000"/>
                </a:schemeClr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F6A0D-3406-01F1-5801-2E8A5450E51F}"/>
              </a:ext>
            </a:extLst>
          </p:cNvPr>
          <p:cNvSpPr txBox="1"/>
          <p:nvPr/>
        </p:nvSpPr>
        <p:spPr>
          <a:xfrm>
            <a:off x="11318478" y="7332626"/>
            <a:ext cx="6512321" cy="2762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5400"/>
              </a:lnSpc>
            </a:pPr>
            <a:r>
              <a:rPr lang="en-US" sz="2000" spc="-150" dirty="0">
                <a:solidFill>
                  <a:schemeClr val="tx2">
                    <a:lumMod val="75000"/>
                  </a:schemeClr>
                </a:solidFill>
                <a:latin typeface="DM Sans" pitchFamily="2" charset="0"/>
              </a:rPr>
              <a:t>An AI-powered web dashboard that uses Machine Learning (Multi-Output Regression) to analyze student demographics and habits (study hours, attendance) to predict their future grades and behavior instantly.</a:t>
            </a:r>
            <a:endParaRPr lang="en-US" sz="2000" spc="-150" dirty="0">
              <a:solidFill>
                <a:schemeClr val="tx2">
                  <a:lumMod val="75000"/>
                </a:schemeClr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27" name="Freeform 11">
            <a:extLst>
              <a:ext uri="{FF2B5EF4-FFF2-40B4-BE49-F238E27FC236}">
                <a16:creationId xmlns:a16="http://schemas.microsoft.com/office/drawing/2014/main" id="{A4D52876-1D15-D815-3FE6-4E263E960F78}"/>
              </a:ext>
            </a:extLst>
          </p:cNvPr>
          <p:cNvSpPr/>
          <p:nvPr/>
        </p:nvSpPr>
        <p:spPr>
          <a:xfrm>
            <a:off x="11445819" y="6886679"/>
            <a:ext cx="627908" cy="629052"/>
          </a:xfrm>
          <a:custGeom>
            <a:avLst/>
            <a:gdLst/>
            <a:ahLst/>
            <a:cxnLst/>
            <a:rect l="l" t="t" r="r" b="b"/>
            <a:pathLst>
              <a:path w="627908" h="629052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2993D00F-115D-8F46-87F6-71A9994805E9}"/>
              </a:ext>
            </a:extLst>
          </p:cNvPr>
          <p:cNvSpPr/>
          <p:nvPr/>
        </p:nvSpPr>
        <p:spPr>
          <a:xfrm>
            <a:off x="3936910" y="4991100"/>
            <a:ext cx="627908" cy="629052"/>
          </a:xfrm>
          <a:custGeom>
            <a:avLst/>
            <a:gdLst/>
            <a:ahLst/>
            <a:cxnLst/>
            <a:rect l="l" t="t" r="r" b="b"/>
            <a:pathLst>
              <a:path w="627908" h="629052">
                <a:moveTo>
                  <a:pt x="0" y="0"/>
                </a:moveTo>
                <a:lnTo>
                  <a:pt x="627908" y="0"/>
                </a:lnTo>
                <a:lnTo>
                  <a:pt x="627908" y="629052"/>
                </a:lnTo>
                <a:lnTo>
                  <a:pt x="0" y="629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FE04D5-C527-09F1-8EB4-4746FFEB1135}"/>
              </a:ext>
            </a:extLst>
          </p:cNvPr>
          <p:cNvSpPr txBox="1"/>
          <p:nvPr/>
        </p:nvSpPr>
        <p:spPr>
          <a:xfrm>
            <a:off x="12073727" y="2499924"/>
            <a:ext cx="4854128" cy="69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54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Brief description of the problem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D8C460-4132-DEF0-075B-4C7D411A4751}"/>
              </a:ext>
            </a:extLst>
          </p:cNvPr>
          <p:cNvSpPr txBox="1"/>
          <p:nvPr/>
        </p:nvSpPr>
        <p:spPr>
          <a:xfrm>
            <a:off x="12073727" y="6769912"/>
            <a:ext cx="4918873" cy="69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54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Overview of the proposed solution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6CE6BF-C7ED-6110-998D-AD13FFD00AF1}"/>
              </a:ext>
            </a:extLst>
          </p:cNvPr>
          <p:cNvSpPr txBox="1"/>
          <p:nvPr/>
        </p:nvSpPr>
        <p:spPr>
          <a:xfrm>
            <a:off x="4815432" y="4796962"/>
            <a:ext cx="3920490" cy="69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5400"/>
              </a:lnSpc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Unique Value Proposition</a:t>
            </a:r>
            <a:endParaRPr lang="en-US" sz="2400" b="1" dirty="0">
              <a:solidFill>
                <a:schemeClr val="accent1">
                  <a:lumMod val="75000"/>
                </a:schemeClr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AB7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E8C2BB-D42F-A8F6-8B45-AF48327E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91607C2-7B48-9DAE-9439-7CBF4CF715C3}"/>
              </a:ext>
            </a:extLst>
          </p:cNvPr>
          <p:cNvGrpSpPr/>
          <p:nvPr/>
        </p:nvGrpSpPr>
        <p:grpSpPr>
          <a:xfrm>
            <a:off x="571500" y="7277067"/>
            <a:ext cx="8429625" cy="2438433"/>
            <a:chOff x="0" y="0"/>
            <a:chExt cx="2112884" cy="61119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E75519-BCB4-4780-7004-827891313C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B4731C6-B9B3-B8A1-99C8-40353CB229E3}"/>
                </a:ext>
              </a:extLst>
            </p:cNvPr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36C4FE6-F51B-33DF-B163-5ED9BBFD26CF}"/>
              </a:ext>
            </a:extLst>
          </p:cNvPr>
          <p:cNvGrpSpPr/>
          <p:nvPr/>
        </p:nvGrpSpPr>
        <p:grpSpPr>
          <a:xfrm>
            <a:off x="571500" y="4556645"/>
            <a:ext cx="8429625" cy="2438433"/>
            <a:chOff x="0" y="0"/>
            <a:chExt cx="2112884" cy="61119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6D84377-62EA-045F-0B25-2E78DBB1C0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9E62053-8818-E55E-D3A3-B60047B02A38}"/>
                </a:ext>
              </a:extLst>
            </p:cNvPr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90B899B-1E8A-B0F8-7F4B-59AFBA5D52DA}"/>
              </a:ext>
            </a:extLst>
          </p:cNvPr>
          <p:cNvGrpSpPr/>
          <p:nvPr/>
        </p:nvGrpSpPr>
        <p:grpSpPr>
          <a:xfrm>
            <a:off x="931606" y="4909493"/>
            <a:ext cx="7755194" cy="2289140"/>
            <a:chOff x="0" y="76200"/>
            <a:chExt cx="8828958" cy="1519974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7427D63-63C8-3750-299E-00153480690F}"/>
                </a:ext>
              </a:extLst>
            </p:cNvPr>
            <p:cNvSpPr txBox="1"/>
            <p:nvPr/>
          </p:nvSpPr>
          <p:spPr>
            <a:xfrm>
              <a:off x="0" y="76200"/>
              <a:ext cx="8828958" cy="3594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500"/>
                </a:lnSpc>
              </a:pPr>
              <a:r>
                <a:rPr lang="en-US" sz="3200" b="1" dirty="0">
                  <a:solidFill>
                    <a:schemeClr val="accent1"/>
                  </a:solidFill>
                  <a:latin typeface="DM Sans" pitchFamily="2" charset="0"/>
                </a:rPr>
                <a:t>User Interface Structure (Visuals)</a:t>
              </a:r>
              <a:endParaRPr lang="en-US" sz="3200" b="1" spc="-135" dirty="0">
                <a:solidFill>
                  <a:schemeClr val="accent1"/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F9BCADC-C531-D603-F385-417CB12DFF65}"/>
                </a:ext>
              </a:extLst>
            </p:cNvPr>
            <p:cNvSpPr txBox="1"/>
            <p:nvPr/>
          </p:nvSpPr>
          <p:spPr>
            <a:xfrm>
              <a:off x="0" y="1185805"/>
              <a:ext cx="8828958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endParaRPr lang="en-US" sz="2000" u="none" strike="noStrike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837DC02-C222-A889-8F5F-D5E40C4D34EA}"/>
              </a:ext>
            </a:extLst>
          </p:cNvPr>
          <p:cNvGrpSpPr/>
          <p:nvPr/>
        </p:nvGrpSpPr>
        <p:grpSpPr>
          <a:xfrm>
            <a:off x="931606" y="7629913"/>
            <a:ext cx="6621719" cy="1139981"/>
            <a:chOff x="0" y="76200"/>
            <a:chExt cx="8828958" cy="1519974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BC3AB02-8405-0211-3014-6087D1684739}"/>
                </a:ext>
              </a:extLst>
            </p:cNvPr>
            <p:cNvSpPr txBox="1"/>
            <p:nvPr/>
          </p:nvSpPr>
          <p:spPr>
            <a:xfrm>
              <a:off x="0" y="76200"/>
              <a:ext cx="8828958" cy="7334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500"/>
                </a:lnSpc>
              </a:pPr>
              <a:r>
                <a:rPr lang="en-US" sz="3200" b="1" dirty="0">
                  <a:solidFill>
                    <a:schemeClr val="accent1"/>
                  </a:solidFill>
                  <a:latin typeface="DM Sans" pitchFamily="2" charset="0"/>
                </a:rPr>
                <a:t>Layout Strategy (Visual Hierarchy)</a:t>
              </a:r>
              <a:endParaRPr lang="en-US" sz="3200" b="1" spc="-135" dirty="0">
                <a:solidFill>
                  <a:schemeClr val="accent1"/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1575091-1FC6-35D1-23B3-A8459C06CB81}"/>
                </a:ext>
              </a:extLst>
            </p:cNvPr>
            <p:cNvSpPr txBox="1"/>
            <p:nvPr/>
          </p:nvSpPr>
          <p:spPr>
            <a:xfrm>
              <a:off x="0" y="1185805"/>
              <a:ext cx="8828958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endParaRPr lang="en-US" sz="2000" u="none" strike="noStrike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B196CB9-6CC0-B76D-B7E6-B9C5B74ECD76}"/>
              </a:ext>
            </a:extLst>
          </p:cNvPr>
          <p:cNvGrpSpPr/>
          <p:nvPr/>
        </p:nvGrpSpPr>
        <p:grpSpPr>
          <a:xfrm>
            <a:off x="9286875" y="7277067"/>
            <a:ext cx="8429625" cy="2438433"/>
            <a:chOff x="0" y="0"/>
            <a:chExt cx="2112884" cy="611193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5FA0178-2C28-7503-ED13-EDDFF91A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E77D1F06-8568-711A-ABC2-6CA6A1CB465D}"/>
                </a:ext>
              </a:extLst>
            </p:cNvPr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031433B-E307-3FD9-9BBD-52DA5031A7D0}"/>
              </a:ext>
            </a:extLst>
          </p:cNvPr>
          <p:cNvGrpSpPr/>
          <p:nvPr/>
        </p:nvGrpSpPr>
        <p:grpSpPr>
          <a:xfrm>
            <a:off x="9286875" y="4556646"/>
            <a:ext cx="8429625" cy="2438433"/>
            <a:chOff x="0" y="0"/>
            <a:chExt cx="2112884" cy="61119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D5BDAD9-8B31-E602-9A29-61F66D712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08806CA-805C-CF75-24A6-CF133B462C01}"/>
                </a:ext>
              </a:extLst>
            </p:cNvPr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3994177-21F4-BABA-CC86-13279277E7B7}"/>
              </a:ext>
            </a:extLst>
          </p:cNvPr>
          <p:cNvGrpSpPr/>
          <p:nvPr/>
        </p:nvGrpSpPr>
        <p:grpSpPr>
          <a:xfrm>
            <a:off x="9763883" y="4909493"/>
            <a:ext cx="6419092" cy="1334666"/>
            <a:chOff x="0" y="76200"/>
            <a:chExt cx="8558790" cy="1442173"/>
          </a:xfrm>
        </p:grpSpPr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257FEDB-F6AB-7F70-AEC4-7AC56ED4ECC4}"/>
                </a:ext>
              </a:extLst>
            </p:cNvPr>
            <p:cNvSpPr txBox="1"/>
            <p:nvPr/>
          </p:nvSpPr>
          <p:spPr>
            <a:xfrm>
              <a:off x="0" y="76200"/>
              <a:ext cx="8558790" cy="628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500"/>
                </a:lnSpc>
              </a:pPr>
              <a:r>
                <a:rPr lang="en-US" sz="4400" b="1" dirty="0">
                  <a:solidFill>
                    <a:schemeClr val="accent1"/>
                  </a:solidFill>
                  <a:latin typeface="DM Sans" pitchFamily="2" charset="0"/>
                </a:rPr>
                <a:t>User Journey (Flow)</a:t>
              </a:r>
              <a:endParaRPr lang="en-US" sz="4400" b="1" spc="-135" dirty="0">
                <a:solidFill>
                  <a:schemeClr val="accent1"/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CACD36D6-69BC-9567-AA70-02873E69D6E6}"/>
                </a:ext>
              </a:extLst>
            </p:cNvPr>
            <p:cNvSpPr txBox="1"/>
            <p:nvPr/>
          </p:nvSpPr>
          <p:spPr>
            <a:xfrm>
              <a:off x="0" y="1185805"/>
              <a:ext cx="8558790" cy="332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endParaRPr lang="en-US" sz="2000" u="none" strike="noStrike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1D88B239-225A-6C94-9872-2E3A1A6FEAC1}"/>
              </a:ext>
            </a:extLst>
          </p:cNvPr>
          <p:cNvGrpSpPr/>
          <p:nvPr/>
        </p:nvGrpSpPr>
        <p:grpSpPr>
          <a:xfrm>
            <a:off x="9763883" y="7629913"/>
            <a:ext cx="6419092" cy="1139981"/>
            <a:chOff x="0" y="76200"/>
            <a:chExt cx="8558790" cy="1519974"/>
          </a:xfrm>
        </p:grpSpPr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25887E6D-03E6-9E5E-3727-00117B4ED22C}"/>
                </a:ext>
              </a:extLst>
            </p:cNvPr>
            <p:cNvSpPr txBox="1"/>
            <p:nvPr/>
          </p:nvSpPr>
          <p:spPr>
            <a:xfrm>
              <a:off x="0" y="76200"/>
              <a:ext cx="8558790" cy="80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500"/>
                </a:lnSpc>
              </a:pPr>
              <a:r>
                <a:rPr lang="en-US" sz="4800" b="1" dirty="0">
                  <a:solidFill>
                    <a:schemeClr val="accent1"/>
                  </a:solidFill>
                  <a:latin typeface="DM Sans" pitchFamily="2" charset="0"/>
                </a:rPr>
                <a:t>UX Focus</a:t>
              </a:r>
              <a:endParaRPr lang="en-US" sz="4500" b="1" spc="-135" dirty="0">
                <a:solidFill>
                  <a:schemeClr val="accent1"/>
                </a:solidFill>
                <a:latin typeface="DM Sans" pitchFamily="2" charset="0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8E39F86-E3CB-8B5B-96BB-6C56CEC10793}"/>
                </a:ext>
              </a:extLst>
            </p:cNvPr>
            <p:cNvSpPr txBox="1"/>
            <p:nvPr/>
          </p:nvSpPr>
          <p:spPr>
            <a:xfrm>
              <a:off x="0" y="1185805"/>
              <a:ext cx="855879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endParaRPr lang="en-US" sz="2000" u="none" strike="noStrike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32B869E7-A6B4-6FA5-9146-0C8D560677B5}"/>
              </a:ext>
            </a:extLst>
          </p:cNvPr>
          <p:cNvSpPr txBox="1"/>
          <p:nvPr/>
        </p:nvSpPr>
        <p:spPr>
          <a:xfrm>
            <a:off x="571500" y="2562225"/>
            <a:ext cx="17145000" cy="115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9000"/>
              </a:lnSpc>
            </a:pPr>
            <a:r>
              <a:rPr lang="en-US" sz="8000" dirty="0">
                <a:solidFill>
                  <a:schemeClr val="bg1"/>
                </a:solidFill>
                <a:latin typeface="DM Sans" pitchFamily="2" charset="0"/>
              </a:rPr>
              <a:t>Project Wireframe &amp; User Journey</a:t>
            </a:r>
            <a:endParaRPr lang="en-US" sz="8000" spc="-270" dirty="0">
              <a:solidFill>
                <a:schemeClr val="bg1"/>
              </a:solidFill>
              <a:latin typeface="DM Sans" pitchFamily="2" charset="0"/>
              <a:ea typeface="DM Sans"/>
              <a:cs typeface="DM Sans"/>
              <a:sym typeface="DM San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3DAFFD1-F64C-FBCA-4FD1-6649397CAD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83" y="409620"/>
            <a:ext cx="1853817" cy="17043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9B9AA04-E250-799E-ECCA-A8AEF663C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9682" y="723900"/>
            <a:ext cx="3626818" cy="942344"/>
          </a:xfrm>
          <a:prstGeom prst="rect">
            <a:avLst/>
          </a:prstGeom>
        </p:spPr>
      </p:pic>
      <p:sp>
        <p:nvSpPr>
          <p:cNvPr id="41" name="Rectangle 9">
            <a:extLst>
              <a:ext uri="{FF2B5EF4-FFF2-40B4-BE49-F238E27FC236}">
                <a16:creationId xmlns:a16="http://schemas.microsoft.com/office/drawing/2014/main" id="{99442933-FF0A-4C7F-3AE7-879917A31F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78906" y="5676900"/>
            <a:ext cx="773169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8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DM Sans" pitchFamily="2" charset="0"/>
              </a:rPr>
              <a:t>Framework: Built with Streamlit for a clean, responsive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8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DM Sans" pitchFamily="2" charset="0"/>
              </a:rPr>
              <a:t>Structure: Sidebar for controls (Student ID) + 5 Main Tabs: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8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DM Sans" pitchFamily="2" charset="0"/>
              </a:rPr>
              <a:t>Overview | Subjects | Attendance | Insights | AI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altLang="ar-EG" sz="1800" i="0" u="none" strike="noStrike" cap="none" normalizeH="0" baseline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latin typeface="DM Sans" pitchFamily="2" charset="0"/>
            </a:endParaRP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1E895AF6-024C-4F09-EBA6-C3B6ED326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1200" y="5621248"/>
            <a:ext cx="198977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DM Sans" pitchFamily="2" charset="0"/>
              </a:rPr>
              <a:t>Select: User chooses a Student ID from the sidebar.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DM Sans" pitchFamily="2" charset="0"/>
              </a:rPr>
              <a:t>Analyze: Explores interactive charts across different tabs.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DM Sans" pitchFamily="2" charset="0"/>
              </a:rPr>
              <a:t>Simulate: Goes to "AI Prediction" tab to run "What-If"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6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DM Sans" pitchFamily="2" charset="0"/>
              </a:rPr>
              <a:t>Result: Adjusts sliders (e.g., Study Hours), clicks Predict, and views instant grades.</a:t>
            </a:r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8F225DF3-77B0-B332-A15B-E9224A17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6440" y="8622271"/>
            <a:ext cx="68531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8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Simplicity: No-code interface using intuitive Sliders &amp; Dropdowns.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800" i="0" u="none" strike="noStrike" cap="none" normalizeH="0" baseline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Speed: Instant visualization updates and model predictions</a:t>
            </a:r>
          </a:p>
        </p:txBody>
      </p:sp>
      <p:sp>
        <p:nvSpPr>
          <p:cNvPr id="44" name="Rectangle 12">
            <a:extLst>
              <a:ext uri="{FF2B5EF4-FFF2-40B4-BE49-F238E27FC236}">
                <a16:creationId xmlns:a16="http://schemas.microsoft.com/office/drawing/2014/main" id="{C3C113E9-F7FD-B10E-C7B3-DD58DFC4A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872" y="8238172"/>
            <a:ext cx="804376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8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Split Design: A fixed Sidebar for inputs (Student ID, Sliders) ensures controls are always accessible without cluttering the main view.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ar-EG" altLang="ar-EG" sz="18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Logical Separation: Uses Tabs to distinctly separate "Descriptive Analytics" (Overview/Subjects) from "Predictive Analytics" (AI Tool), preventing user confusion.</a:t>
            </a:r>
          </a:p>
        </p:txBody>
      </p:sp>
    </p:spTree>
    <p:extLst>
      <p:ext uri="{BB962C8B-B14F-4D97-AF65-F5344CB8AC3E}">
        <p14:creationId xmlns:p14="http://schemas.microsoft.com/office/powerpoint/2010/main" val="2730989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B1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7277067"/>
            <a:ext cx="8429625" cy="2438433"/>
            <a:chOff x="0" y="0"/>
            <a:chExt cx="2112884" cy="611193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4556646"/>
            <a:ext cx="8429625" cy="2438433"/>
            <a:chOff x="0" y="0"/>
            <a:chExt cx="2112884" cy="611193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1606" y="4852343"/>
            <a:ext cx="6621719" cy="1810898"/>
            <a:chOff x="0" y="0"/>
            <a:chExt cx="8828958" cy="2414530"/>
          </a:xfrm>
        </p:grpSpPr>
        <p:sp>
          <p:nvSpPr>
            <p:cNvPr id="9" name="TextBox 9"/>
            <p:cNvSpPr txBox="1"/>
            <p:nvPr/>
          </p:nvSpPr>
          <p:spPr>
            <a:xfrm>
              <a:off x="0" y="76200"/>
              <a:ext cx="8828958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School Principals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85805"/>
              <a:ext cx="8828958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School principals benefit from comprehensive insights to drive academic performance and improve student outcomes efficiently.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1606" y="7572763"/>
            <a:ext cx="6621719" cy="1810898"/>
            <a:chOff x="0" y="0"/>
            <a:chExt cx="8828958" cy="241453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6200"/>
              <a:ext cx="8828958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Academic Counselors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85805"/>
              <a:ext cx="8828958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Academic counselors utilize data-driven insights to guide students in their academic journeys and enhance decision-making.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86875" y="7277067"/>
            <a:ext cx="8429625" cy="2438433"/>
            <a:chOff x="0" y="0"/>
            <a:chExt cx="2112884" cy="611193"/>
          </a:xfrm>
        </p:grpSpPr>
        <p:sp>
          <p:nvSpPr>
            <p:cNvPr id="15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86875" y="4556646"/>
            <a:ext cx="8429625" cy="2438433"/>
            <a:chOff x="0" y="0"/>
            <a:chExt cx="2112884" cy="611193"/>
          </a:xfrm>
        </p:grpSpPr>
        <p:sp>
          <p:nvSpPr>
            <p:cNvPr id="18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63883" y="4852343"/>
            <a:ext cx="6419092" cy="1810898"/>
            <a:chOff x="0" y="0"/>
            <a:chExt cx="8558790" cy="241453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76200"/>
              <a:ext cx="855879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Teachers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185805"/>
              <a:ext cx="8558790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Teachers gain access to predictive analytics that support tailored instruction and proactive intervention strategies.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63883" y="7572763"/>
            <a:ext cx="6419092" cy="1810898"/>
            <a:chOff x="0" y="0"/>
            <a:chExt cx="8558790" cy="2414530"/>
          </a:xfrm>
        </p:grpSpPr>
        <p:sp>
          <p:nvSpPr>
            <p:cNvPr id="24" name="TextBox 24"/>
            <p:cNvSpPr txBox="1"/>
            <p:nvPr/>
          </p:nvSpPr>
          <p:spPr>
            <a:xfrm>
              <a:off x="0" y="76200"/>
              <a:ext cx="855879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Multi-output Prediction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185805"/>
              <a:ext cx="8558790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The dashboard provides multi-output predictions, offering insights into both academic performance and behavioral trends for holistic understanding.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71500" y="647700"/>
            <a:ext cx="17145000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27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End Users and Key Features Overview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AD87E0F-02D8-06F9-C98B-4DE9120BB7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7200" y="638220"/>
            <a:ext cx="2082417" cy="1914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7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3248025"/>
            <a:ext cx="1714500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00"/>
              </a:lnSpc>
            </a:pPr>
            <a:r>
              <a:rPr lang="en-US" sz="9000" spc="-27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Dataset Structure and Processing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1500" y="5429565"/>
            <a:ext cx="6981825" cy="175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00"/>
              </a:lnSpc>
            </a:pPr>
            <a:r>
              <a:rPr lang="en-US" sz="4500" spc="-135" dirty="0">
                <a:solidFill>
                  <a:srgbClr val="D7B119"/>
                </a:solidFill>
                <a:latin typeface="DM Sans"/>
                <a:ea typeface="DM Sans"/>
                <a:cs typeface="DM Sans"/>
                <a:sym typeface="DM Sans"/>
              </a:rPr>
              <a:t>Over +30,000 records analyzed from DATA.csv for educational insights.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39250" y="5492893"/>
            <a:ext cx="3723401" cy="1279800"/>
            <a:chOff x="0" y="0"/>
            <a:chExt cx="4964535" cy="1706401"/>
          </a:xfrm>
        </p:grpSpPr>
        <p:sp>
          <p:nvSpPr>
            <p:cNvPr id="5" name="TextBox 5"/>
            <p:cNvSpPr txBox="1"/>
            <p:nvPr/>
          </p:nvSpPr>
          <p:spPr>
            <a:xfrm>
              <a:off x="0" y="687226"/>
              <a:ext cx="4964535" cy="1019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57"/>
                </a:lnSpc>
              </a:pPr>
              <a:r>
                <a:rPr lang="en-US" sz="1714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Key features include StudyHours, AttendanceRate, ParentEduc, and SocialIndex.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4964535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57"/>
                </a:lnSpc>
              </a:pPr>
              <a:r>
                <a:rPr lang="en-US" sz="1714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Dataset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573125" y="5492893"/>
            <a:ext cx="3708475" cy="1536975"/>
            <a:chOff x="0" y="0"/>
            <a:chExt cx="4944633" cy="2049301"/>
          </a:xfrm>
        </p:grpSpPr>
        <p:sp>
          <p:nvSpPr>
            <p:cNvPr id="8" name="TextBox 8"/>
            <p:cNvSpPr txBox="1"/>
            <p:nvPr/>
          </p:nvSpPr>
          <p:spPr>
            <a:xfrm>
              <a:off x="0" y="687226"/>
              <a:ext cx="4944633" cy="1362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57"/>
                </a:lnSpc>
              </a:pPr>
              <a:r>
                <a:rPr lang="en-US" sz="1714">
                  <a:solidFill>
                    <a:srgbClr val="FFFFFF">
                      <a:alpha val="97647"/>
                    </a:srgbClr>
                  </a:solidFill>
                  <a:latin typeface="DM Sans"/>
                  <a:ea typeface="DM Sans"/>
                  <a:cs typeface="DM Sans"/>
                  <a:sym typeface="DM Sans"/>
                </a:rPr>
                <a:t>Data cleaning, label encoding for categorical variables, and feature scaling enhance model performance and accuracy in predictions.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9525"/>
              <a:ext cx="4944633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057"/>
                </a:lnSpc>
              </a:pPr>
              <a:r>
                <a:rPr lang="en-US" sz="1714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Techniques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2A2C506D-0AB4-8F83-9E8A-98626A12D4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83" y="409620"/>
            <a:ext cx="2082417" cy="191448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694A75-7E19-5B8E-BFE5-93379AF999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9682" y="627541"/>
            <a:ext cx="3626818" cy="942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AB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71500" y="7277067"/>
            <a:ext cx="8429625" cy="2438433"/>
            <a:chOff x="0" y="0"/>
            <a:chExt cx="2112884" cy="611193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71500" y="4556646"/>
            <a:ext cx="8429625" cy="2438433"/>
            <a:chOff x="0" y="0"/>
            <a:chExt cx="2112884" cy="611193"/>
          </a:xfrm>
        </p:grpSpPr>
        <p:sp>
          <p:nvSpPr>
            <p:cNvPr id="6" name="Freeform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1606" y="4852343"/>
            <a:ext cx="6621719" cy="1506098"/>
            <a:chOff x="0" y="0"/>
            <a:chExt cx="8828958" cy="2008130"/>
          </a:xfrm>
        </p:grpSpPr>
        <p:sp>
          <p:nvSpPr>
            <p:cNvPr id="9" name="TextBox 9"/>
            <p:cNvSpPr txBox="1"/>
            <p:nvPr/>
          </p:nvSpPr>
          <p:spPr>
            <a:xfrm>
              <a:off x="0" y="76200"/>
              <a:ext cx="8828958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Core Language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85805"/>
              <a:ext cx="8828958" cy="822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Python 3.11 is utilized for its versatility and extensive libraries, making it ideal for data analytics applications.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1606" y="7572763"/>
            <a:ext cx="6621719" cy="1810898"/>
            <a:chOff x="0" y="0"/>
            <a:chExt cx="8828958" cy="241453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6200"/>
              <a:ext cx="8828958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Machine Learning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85805"/>
              <a:ext cx="8828958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Scikit-Learn provides robust machine learning algorithms, including Random Forest and MultiOutputRegressor for predictive modeling.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86875" y="7277067"/>
            <a:ext cx="8429625" cy="2438433"/>
            <a:chOff x="0" y="0"/>
            <a:chExt cx="2112884" cy="611193"/>
          </a:xfrm>
        </p:grpSpPr>
        <p:sp>
          <p:nvSpPr>
            <p:cNvPr id="15" name="Freeform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286875" y="4556646"/>
            <a:ext cx="8429625" cy="2438433"/>
            <a:chOff x="0" y="0"/>
            <a:chExt cx="2112884" cy="611193"/>
          </a:xfrm>
        </p:grpSpPr>
        <p:sp>
          <p:nvSpPr>
            <p:cNvPr id="18" name="Freeform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12884" cy="611193"/>
            </a:xfrm>
            <a:custGeom>
              <a:avLst/>
              <a:gdLst/>
              <a:ahLst/>
              <a:cxnLst/>
              <a:rect l="l" t="t" r="r" b="b"/>
              <a:pathLst>
                <a:path w="2112884" h="611193">
                  <a:moveTo>
                    <a:pt x="18368" y="0"/>
                  </a:moveTo>
                  <a:lnTo>
                    <a:pt x="2094515" y="0"/>
                  </a:lnTo>
                  <a:cubicBezTo>
                    <a:pt x="2099387" y="0"/>
                    <a:pt x="2104059" y="1935"/>
                    <a:pt x="2107504" y="5380"/>
                  </a:cubicBezTo>
                  <a:cubicBezTo>
                    <a:pt x="2110948" y="8825"/>
                    <a:pt x="2112884" y="13497"/>
                    <a:pt x="2112884" y="18368"/>
                  </a:cubicBezTo>
                  <a:lnTo>
                    <a:pt x="2112884" y="592824"/>
                  </a:lnTo>
                  <a:cubicBezTo>
                    <a:pt x="2112884" y="597696"/>
                    <a:pt x="2110948" y="602368"/>
                    <a:pt x="2107504" y="605813"/>
                  </a:cubicBezTo>
                  <a:cubicBezTo>
                    <a:pt x="2104059" y="609257"/>
                    <a:pt x="2099387" y="611193"/>
                    <a:pt x="2094515" y="611193"/>
                  </a:cubicBezTo>
                  <a:lnTo>
                    <a:pt x="18368" y="611193"/>
                  </a:lnTo>
                  <a:cubicBezTo>
                    <a:pt x="13497" y="611193"/>
                    <a:pt x="8825" y="609257"/>
                    <a:pt x="5380" y="605813"/>
                  </a:cubicBezTo>
                  <a:cubicBezTo>
                    <a:pt x="1935" y="602368"/>
                    <a:pt x="0" y="597696"/>
                    <a:pt x="0" y="592824"/>
                  </a:cubicBezTo>
                  <a:lnTo>
                    <a:pt x="0" y="18368"/>
                  </a:lnTo>
                  <a:cubicBezTo>
                    <a:pt x="0" y="13497"/>
                    <a:pt x="1935" y="8825"/>
                    <a:pt x="5380" y="5380"/>
                  </a:cubicBezTo>
                  <a:cubicBezTo>
                    <a:pt x="8825" y="1935"/>
                    <a:pt x="13497" y="0"/>
                    <a:pt x="1836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7625"/>
              <a:ext cx="2112884" cy="563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0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63883" y="4852343"/>
            <a:ext cx="6419092" cy="1810898"/>
            <a:chOff x="0" y="0"/>
            <a:chExt cx="8558790" cy="241453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76200"/>
              <a:ext cx="855879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Web Framework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185805"/>
              <a:ext cx="8558790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 dirty="0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Streamlit empowers rapid development of interactive web applications, enabling seamless deployment of our AI-powered dashboard.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63883" y="7572763"/>
            <a:ext cx="6419092" cy="1810898"/>
            <a:chOff x="0" y="0"/>
            <a:chExt cx="8558790" cy="2414530"/>
          </a:xfrm>
        </p:grpSpPr>
        <p:sp>
          <p:nvSpPr>
            <p:cNvPr id="24" name="TextBox 24"/>
            <p:cNvSpPr txBox="1"/>
            <p:nvPr/>
          </p:nvSpPr>
          <p:spPr>
            <a:xfrm>
              <a:off x="0" y="76200"/>
              <a:ext cx="855879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00"/>
                </a:lnSpc>
              </a:pPr>
              <a:r>
                <a:rPr lang="en-US" sz="4500" spc="-135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Data Libraries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185805"/>
              <a:ext cx="8558790" cy="1228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00"/>
                </a:lnSpc>
              </a:pPr>
              <a:r>
                <a:rPr lang="en-US" sz="2000" u="none" strike="noStrike">
                  <a:solidFill>
                    <a:srgbClr val="336EA8"/>
                  </a:solidFill>
                  <a:latin typeface="DM Sans"/>
                  <a:ea typeface="DM Sans"/>
                  <a:cs typeface="DM Sans"/>
                  <a:sym typeface="DM Sans"/>
                </a:rPr>
                <a:t>Pandas and NumPy facilitate data manipulation, while Plotly Express enhances data visualization with interactive plotting capabilities.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71500" y="2562225"/>
            <a:ext cx="1714500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27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Tech Stack and Tools Overview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A411CEE-745D-396B-9245-C246B73658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83" y="409620"/>
            <a:ext cx="1853817" cy="17043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25E24D0-C5EF-DB58-AF51-B6254D17E9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9682" y="723900"/>
            <a:ext cx="3626818" cy="942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6E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39250" y="571500"/>
            <a:ext cx="9608720" cy="9144000"/>
            <a:chOff x="0" y="0"/>
            <a:chExt cx="2530692" cy="2408296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0692" cy="2408296"/>
            </a:xfrm>
            <a:custGeom>
              <a:avLst/>
              <a:gdLst/>
              <a:ahLst/>
              <a:cxnLst/>
              <a:rect l="l" t="t" r="r" b="b"/>
              <a:pathLst>
                <a:path w="2530692" h="2408296">
                  <a:moveTo>
                    <a:pt x="24172" y="0"/>
                  </a:moveTo>
                  <a:lnTo>
                    <a:pt x="2506520" y="0"/>
                  </a:lnTo>
                  <a:cubicBezTo>
                    <a:pt x="2519870" y="0"/>
                    <a:pt x="2530692" y="10822"/>
                    <a:pt x="2530692" y="24172"/>
                  </a:cubicBezTo>
                  <a:lnTo>
                    <a:pt x="2530692" y="2384125"/>
                  </a:lnTo>
                  <a:cubicBezTo>
                    <a:pt x="2530692" y="2397474"/>
                    <a:pt x="2519870" y="2408296"/>
                    <a:pt x="2506520" y="2408296"/>
                  </a:cubicBezTo>
                  <a:lnTo>
                    <a:pt x="24172" y="2408296"/>
                  </a:lnTo>
                  <a:cubicBezTo>
                    <a:pt x="17761" y="2408296"/>
                    <a:pt x="11613" y="2405750"/>
                    <a:pt x="7080" y="2401217"/>
                  </a:cubicBezTo>
                  <a:cubicBezTo>
                    <a:pt x="2547" y="2396684"/>
                    <a:pt x="0" y="2390535"/>
                    <a:pt x="0" y="2384125"/>
                  </a:cubicBezTo>
                  <a:lnTo>
                    <a:pt x="0" y="24172"/>
                  </a:lnTo>
                  <a:cubicBezTo>
                    <a:pt x="0" y="10822"/>
                    <a:pt x="10822" y="0"/>
                    <a:pt x="2417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0692" cy="244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739438" y="6912167"/>
            <a:ext cx="674433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rPr>
              <a:t>User testing focused on navigation and latency, confirming an intuitive interface and swift response times for all features.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739438" y="4548504"/>
            <a:ext cx="674433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rPr>
              <a:t>Unit tests have been conducted on API endpoints, ensuring robust functionality and seamless integration for end users.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1500" y="4048125"/>
            <a:ext cx="8420100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27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Live Application &amp; Testing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39438" y="2184841"/>
            <a:ext cx="6744337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400"/>
              </a:lnSpc>
            </a:pPr>
            <a:r>
              <a:rPr lang="en-US" sz="2000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rPr>
              <a:t>The application is fully deployed and accessible online by Streamlit Cloud, providing real-time insights into student performance metrics.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54F165-3C31-EB07-E11D-E1BF7E171D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83" y="409620"/>
            <a:ext cx="2082417" cy="19144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A0A4DC-8FA4-07E7-1312-9F6C7B46CD3F}"/>
              </a:ext>
            </a:extLst>
          </p:cNvPr>
          <p:cNvSpPr txBox="1"/>
          <p:nvPr/>
        </p:nvSpPr>
        <p:spPr>
          <a:xfrm>
            <a:off x="355983" y="8694931"/>
            <a:ext cx="9495692" cy="102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r>
              <a:rPr lang="en-US" sz="1800" u="none" strike="noStrike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To Show The Dashboard Live Please click the Link blow:</a:t>
            </a:r>
          </a:p>
          <a:p>
            <a:pPr marL="0" lvl="0" indent="0" algn="l">
              <a:lnSpc>
                <a:spcPts val="2400"/>
              </a:lnSpc>
              <a:spcBef>
                <a:spcPct val="0"/>
              </a:spcBef>
            </a:pPr>
            <a:endParaRPr lang="en-US" sz="1800" u="none" strike="noStrike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400"/>
              </a:lnSpc>
              <a:spcBef>
                <a:spcPct val="0"/>
              </a:spcBef>
            </a:pPr>
            <a:r>
              <a:rPr lang="en-US" sz="2400" b="1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Dashboard.Live</a:t>
            </a:r>
            <a:endParaRPr lang="en-US" sz="2400" b="1" u="none" strike="noStrike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B1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15400" y="571500"/>
            <a:ext cx="9608720" cy="9144000"/>
            <a:chOff x="0" y="0"/>
            <a:chExt cx="2530692" cy="2408296"/>
          </a:xfrm>
        </p:grpSpPr>
        <p:sp>
          <p:nvSpPr>
            <p:cNvPr id="3" name="Freeform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530692" cy="2408296"/>
            </a:xfrm>
            <a:custGeom>
              <a:avLst/>
              <a:gdLst/>
              <a:ahLst/>
              <a:cxnLst/>
              <a:rect l="l" t="t" r="r" b="b"/>
              <a:pathLst>
                <a:path w="2530692" h="2408296">
                  <a:moveTo>
                    <a:pt x="24172" y="0"/>
                  </a:moveTo>
                  <a:lnTo>
                    <a:pt x="2506520" y="0"/>
                  </a:lnTo>
                  <a:cubicBezTo>
                    <a:pt x="2519870" y="0"/>
                    <a:pt x="2530692" y="10822"/>
                    <a:pt x="2530692" y="24172"/>
                  </a:cubicBezTo>
                  <a:lnTo>
                    <a:pt x="2530692" y="2384125"/>
                  </a:lnTo>
                  <a:cubicBezTo>
                    <a:pt x="2530692" y="2397474"/>
                    <a:pt x="2519870" y="2408296"/>
                    <a:pt x="2506520" y="2408296"/>
                  </a:cubicBezTo>
                  <a:lnTo>
                    <a:pt x="24172" y="2408296"/>
                  </a:lnTo>
                  <a:cubicBezTo>
                    <a:pt x="17761" y="2408296"/>
                    <a:pt x="11613" y="2405750"/>
                    <a:pt x="7080" y="2401217"/>
                  </a:cubicBezTo>
                  <a:cubicBezTo>
                    <a:pt x="2547" y="2396684"/>
                    <a:pt x="0" y="2390535"/>
                    <a:pt x="0" y="2384125"/>
                  </a:cubicBezTo>
                  <a:lnTo>
                    <a:pt x="0" y="24172"/>
                  </a:lnTo>
                  <a:cubicBezTo>
                    <a:pt x="0" y="10822"/>
                    <a:pt x="10822" y="0"/>
                    <a:pt x="24172" y="0"/>
                  </a:cubicBezTo>
                  <a:close/>
                </a:path>
              </a:pathLst>
            </a:custGeom>
            <a:solidFill>
              <a:srgbClr val="336EA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30692" cy="244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71500" y="3476625"/>
            <a:ext cx="8420100" cy="3495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0"/>
              </a:lnSpc>
            </a:pPr>
            <a:r>
              <a:rPr lang="en-US" sz="9000" spc="-27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Project Timeline</a:t>
            </a:r>
          </a:p>
          <a:p>
            <a:pPr marL="0" lvl="0" indent="0" algn="l">
              <a:lnSpc>
                <a:spcPts val="9000"/>
              </a:lnSpc>
            </a:pPr>
            <a:r>
              <a:rPr lang="en-US" sz="9000" spc="-27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&amp; Deliverables Overview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69EB89-16F2-B716-AAE3-8CBF5C6E22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83" y="409620"/>
            <a:ext cx="2082417" cy="191448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B395220-4C95-2912-A092-440D079B0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37794"/>
              </p:ext>
            </p:extLst>
          </p:nvPr>
        </p:nvGraphicFramePr>
        <p:xfrm>
          <a:off x="9220200" y="1085292"/>
          <a:ext cx="8839200" cy="7924799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499951046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32953499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88674996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932650156"/>
                    </a:ext>
                  </a:extLst>
                </a:gridCol>
              </a:tblGrid>
              <a:tr h="33592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Timeframe</a:t>
                      </a: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Phase Name</a:t>
                      </a:r>
                      <a:endParaRPr lang="en-US" sz="1200" u="none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Key Activities</a:t>
                      </a:r>
                      <a:endParaRPr lang="en-US" sz="1200" u="none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Outcome / Deliverable</a:t>
                      </a:r>
                      <a:endParaRPr lang="en-US" sz="1200" u="none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760624"/>
                  </a:ext>
                </a:extLst>
              </a:tr>
              <a:tr h="15727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nl-NL" sz="1200" b="1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Weeks 1</a:t>
                      </a:r>
                      <a:endParaRPr lang="nl-NL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endParaRPr lang="nl-NL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nl-NL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(Oct 1 - Oct 15)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Planning &amp; Analysis</a:t>
                      </a: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Defined problem scope.</a:t>
                      </a:r>
                    </a:p>
                    <a:p>
                      <a:pPr algn="ctr" rtl="0">
                        <a:buNone/>
                      </a:pP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Collected DATA.csv.</a:t>
                      </a:r>
                    </a:p>
                    <a:p>
                      <a:pPr algn="ctr" rtl="0">
                        <a:buNone/>
                      </a:pP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Performed Exploratory Data Analysis (EDA).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Data Insights Report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650687"/>
                  </a:ext>
                </a:extLst>
              </a:tr>
              <a:tr h="15727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nl-NL" sz="1200" b="1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Weeks 2</a:t>
                      </a:r>
                      <a:endParaRPr lang="nl-NL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endParaRPr lang="nl-NL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nl-NL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(Oct 15 - Nov 1)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Data Engineering</a:t>
                      </a: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Cleaned missing values.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Created label_mappings.json for encoding.</a:t>
                      </a: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Selected features (Feature Selection).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Processed Dataset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454545"/>
                  </a:ext>
                </a:extLst>
              </a:tr>
              <a:tr h="143531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nl-NL" sz="1200" b="1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Weeks 3</a:t>
                      </a:r>
                      <a:br>
                        <a:rPr lang="nl-NL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</a:br>
                      <a:endParaRPr lang="nl-NL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nl-NL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(Nov 1 - Nov 15)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AI Development</a:t>
                      </a:r>
                      <a:endParaRPr lang="en-US" sz="1200" u="none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Trained Random Forest Regressor.</a:t>
                      </a:r>
                      <a:b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</a:b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Tuned hyperparameters.</a:t>
                      </a:r>
                    </a:p>
                    <a:p>
                      <a:pPr algn="ctr" rtl="0">
                        <a:buNone/>
                      </a:pP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Validated model accuracy (R² Score).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u="none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Trained Model (.pkl)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926505"/>
                  </a:ext>
                </a:extLst>
              </a:tr>
              <a:tr h="157274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nl-NL" sz="1200" b="1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Weeks 4</a:t>
                      </a:r>
                      <a:endParaRPr lang="nl-NL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endParaRPr lang="nl-NL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nl-NL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(Nov 15 - Nov 22)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Dashboard Build</a:t>
                      </a:r>
                      <a:endParaRPr lang="en-US" sz="1200" u="none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Built Streamlit UI structure.</a:t>
                      </a:r>
                    </a:p>
                    <a:p>
                      <a:pPr algn="ctr" rtl="0">
                        <a:buNone/>
                      </a:pP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Developed Sidebar &amp; Tabs.</a:t>
                      </a:r>
                      <a:b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</a:b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Integrated AI model with frontend.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u="none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Functional App (Local)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502680"/>
                  </a:ext>
                </a:extLst>
              </a:tr>
              <a:tr h="1435319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Final Phase</a:t>
                      </a: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(Nov 22 - Nov 30)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Deployment</a:t>
                      </a:r>
                      <a:endParaRPr lang="en-US" sz="1200" u="none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Deployed to Streamlit Cloud.</a:t>
                      </a:r>
                      <a:b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</a:b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Performed User Testing.</a:t>
                      </a:r>
                      <a:b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</a:b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  <a:p>
                      <a:pPr algn="ctr" rtl="0">
                        <a:buNone/>
                      </a:pPr>
                      <a:r>
                        <a:rPr lang="en-US" sz="1200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• Finalized Documentation.</a:t>
                      </a: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1200" b="1" u="none" dirty="0">
                          <a:solidFill>
                            <a:schemeClr val="bg1"/>
                          </a:solidFill>
                          <a:effectLst/>
                          <a:latin typeface="Google Sans Text"/>
                        </a:rPr>
                        <a:t>Live Dashboard URL</a:t>
                      </a:r>
                      <a:endParaRPr lang="en-US" sz="1200" u="none" dirty="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26162" marR="26162" marT="17441" marB="174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8155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AB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5750" y="281765"/>
            <a:ext cx="9144000" cy="9719755"/>
            <a:chOff x="0" y="0"/>
            <a:chExt cx="812800" cy="8639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63978"/>
            </a:xfrm>
            <a:custGeom>
              <a:avLst/>
              <a:gdLst/>
              <a:ahLst/>
              <a:cxnLst/>
              <a:rect l="l" t="t" r="r" b="b"/>
              <a:pathLst>
                <a:path w="812800" h="863978">
                  <a:moveTo>
                    <a:pt x="25400" y="0"/>
                  </a:moveTo>
                  <a:lnTo>
                    <a:pt x="787400" y="0"/>
                  </a:lnTo>
                  <a:cubicBezTo>
                    <a:pt x="801428" y="0"/>
                    <a:pt x="812800" y="11372"/>
                    <a:pt x="812800" y="25400"/>
                  </a:cubicBezTo>
                  <a:lnTo>
                    <a:pt x="812800" y="838578"/>
                  </a:lnTo>
                  <a:cubicBezTo>
                    <a:pt x="812800" y="845315"/>
                    <a:pt x="810124" y="851775"/>
                    <a:pt x="805361" y="856539"/>
                  </a:cubicBezTo>
                  <a:cubicBezTo>
                    <a:pt x="800597" y="861302"/>
                    <a:pt x="794137" y="863978"/>
                    <a:pt x="787400" y="863978"/>
                  </a:cubicBezTo>
                  <a:lnTo>
                    <a:pt x="25400" y="863978"/>
                  </a:lnTo>
                  <a:cubicBezTo>
                    <a:pt x="11372" y="863978"/>
                    <a:pt x="0" y="852606"/>
                    <a:pt x="0" y="838578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blipFill>
              <a:blip r:embed="rId2"/>
              <a:stretch>
                <a:fillRect t="-241" b="-241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001000" y="4630863"/>
            <a:ext cx="7966344" cy="3103437"/>
            <a:chOff x="0" y="0"/>
            <a:chExt cx="2101075" cy="818513"/>
          </a:xfrm>
        </p:grpSpPr>
        <p:sp>
          <p:nvSpPr>
            <p:cNvPr id="5" name="Freeform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2101075" cy="818513"/>
            </a:xfrm>
            <a:custGeom>
              <a:avLst/>
              <a:gdLst/>
              <a:ahLst/>
              <a:cxnLst/>
              <a:rect l="l" t="t" r="r" b="b"/>
              <a:pathLst>
                <a:path w="2101075" h="818513">
                  <a:moveTo>
                    <a:pt x="29155" y="0"/>
                  </a:moveTo>
                  <a:lnTo>
                    <a:pt x="2071920" y="0"/>
                  </a:lnTo>
                  <a:cubicBezTo>
                    <a:pt x="2079653" y="0"/>
                    <a:pt x="2087068" y="3072"/>
                    <a:pt x="2092536" y="8539"/>
                  </a:cubicBezTo>
                  <a:cubicBezTo>
                    <a:pt x="2098004" y="14007"/>
                    <a:pt x="2101075" y="21423"/>
                    <a:pt x="2101075" y="29155"/>
                  </a:cubicBezTo>
                  <a:lnTo>
                    <a:pt x="2101075" y="789358"/>
                  </a:lnTo>
                  <a:cubicBezTo>
                    <a:pt x="2101075" y="797090"/>
                    <a:pt x="2098004" y="804506"/>
                    <a:pt x="2092536" y="809974"/>
                  </a:cubicBezTo>
                  <a:cubicBezTo>
                    <a:pt x="2087068" y="815441"/>
                    <a:pt x="2079653" y="818513"/>
                    <a:pt x="2071920" y="818513"/>
                  </a:cubicBezTo>
                  <a:lnTo>
                    <a:pt x="29155" y="818513"/>
                  </a:lnTo>
                  <a:cubicBezTo>
                    <a:pt x="21423" y="818513"/>
                    <a:pt x="14007" y="815441"/>
                    <a:pt x="8539" y="809974"/>
                  </a:cubicBezTo>
                  <a:cubicBezTo>
                    <a:pt x="3072" y="804506"/>
                    <a:pt x="0" y="797090"/>
                    <a:pt x="0" y="789358"/>
                  </a:cubicBezTo>
                  <a:lnTo>
                    <a:pt x="0" y="29155"/>
                  </a:lnTo>
                  <a:cubicBezTo>
                    <a:pt x="0" y="21423"/>
                    <a:pt x="3072" y="14007"/>
                    <a:pt x="8539" y="8539"/>
                  </a:cubicBezTo>
                  <a:cubicBezTo>
                    <a:pt x="14007" y="3072"/>
                    <a:pt x="21423" y="0"/>
                    <a:pt x="29155" y="0"/>
                  </a:cubicBezTo>
                  <a:close/>
                </a:path>
              </a:pathLst>
            </a:custGeom>
            <a:solidFill>
              <a:srgbClr val="FFFFFF"/>
            </a:solidFill>
            <a:ln w="4762" cap="rnd">
              <a:solidFill>
                <a:srgbClr val="E0E1E3"/>
              </a:solidFill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2101075" cy="818513"/>
            </a:xfrm>
            <a:prstGeom prst="rect">
              <a:avLst/>
            </a:prstGeom>
          </p:spPr>
          <p:txBody>
            <a:bodyPr lIns="31202" tIns="31202" rIns="31202" bIns="31202" rtlCol="0" anchor="ctr"/>
            <a:lstStyle/>
            <a:p>
              <a:pPr marL="0" lvl="0" indent="0" algn="ctr">
                <a:lnSpc>
                  <a:spcPts val="46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400442" y="5828061"/>
            <a:ext cx="5645962" cy="1677639"/>
            <a:chOff x="0" y="-85725"/>
            <a:chExt cx="6159500" cy="2236851"/>
          </a:xfrm>
        </p:grpSpPr>
        <p:sp>
          <p:nvSpPr>
            <p:cNvPr id="11" name="TextBox 11"/>
            <p:cNvSpPr txBox="1"/>
            <p:nvPr/>
          </p:nvSpPr>
          <p:spPr>
            <a:xfrm>
              <a:off x="0" y="1049865"/>
              <a:ext cx="6159500" cy="10277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299"/>
                </a:lnSpc>
                <a:spcBef>
                  <a:spcPct val="0"/>
                </a:spcBef>
              </a:pPr>
              <a:endParaRPr lang="en-US" sz="4500" spc="-89" dirty="0">
                <a:solidFill>
                  <a:srgbClr val="336EA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85725"/>
              <a:ext cx="6159500" cy="22368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299"/>
                </a:lnSpc>
              </a:pPr>
              <a:r>
                <a:rPr lang="en-US" sz="7200" b="1" spc="-44" dirty="0">
                  <a:solidFill>
                    <a:srgbClr val="336EA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Thank you!</a:t>
              </a: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850DCF6A-BECA-89E2-ADA1-47D598DA1C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4170" y="495300"/>
            <a:ext cx="2082417" cy="19144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434AE4-E9A4-B47A-5462-2696501AB4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0" y="-21092"/>
            <a:ext cx="4977606" cy="28023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1FAA25-6036-3F7E-349C-E93341EFC9BE}"/>
              </a:ext>
            </a:extLst>
          </p:cNvPr>
          <p:cNvSpPr txBox="1"/>
          <p:nvPr/>
        </p:nvSpPr>
        <p:spPr>
          <a:xfrm>
            <a:off x="9884170" y="8724900"/>
            <a:ext cx="9144000" cy="83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6299"/>
              </a:lnSpc>
            </a:pPr>
            <a:r>
              <a:rPr lang="en-US" sz="3200" b="1" spc="-44" dirty="0">
                <a:latin typeface="DM Sans Bold"/>
                <a:ea typeface="DM Sans Bold"/>
                <a:cs typeface="DM Sans Bold"/>
                <a:sym typeface="DM Sans Bold"/>
              </a:rPr>
              <a:t>By Intelligent Dashboard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896</Words>
  <Application>Microsoft Office PowerPoint</Application>
  <PresentationFormat>Custom</PresentationFormat>
  <Paragraphs>120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DM Sans Bold</vt:lpstr>
      <vt:lpstr>DM Sans</vt:lpstr>
      <vt:lpstr>Calibri</vt:lpstr>
      <vt:lpstr>Google Sans Text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Intelligent Student Performance Dashboard</dc:title>
  <dc:description>Presentation - Intelligent Student Performance Dashboard</dc:description>
  <cp:lastModifiedBy>عبدالله احمد حسين ابراهيم</cp:lastModifiedBy>
  <cp:revision>5</cp:revision>
  <dcterms:created xsi:type="dcterms:W3CDTF">2006-08-16T00:00:00Z</dcterms:created>
  <dcterms:modified xsi:type="dcterms:W3CDTF">2025-11-30T18:06:22Z</dcterms:modified>
  <dc:identifier>DAG6G7lfPsU</dc:identifier>
</cp:coreProperties>
</file>